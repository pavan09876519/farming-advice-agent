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2"/>
  </p:notesMasterIdLst>
  <p:sldIdLst>
    <p:sldId id="290" r:id="rId2"/>
    <p:sldId id="291" r:id="rId3"/>
    <p:sldId id="292" r:id="rId4"/>
    <p:sldId id="293" r:id="rId5"/>
    <p:sldId id="294" r:id="rId6"/>
    <p:sldId id="295" r:id="rId7"/>
    <p:sldId id="296" r:id="rId8"/>
    <p:sldId id="297" r:id="rId9"/>
    <p:sldId id="298" r:id="rId10"/>
    <p:sldId id="299" r:id="rId11"/>
    <p:sldId id="300" r:id="rId12"/>
    <p:sldId id="301" r:id="rId13"/>
    <p:sldId id="302" r:id="rId14"/>
    <p:sldId id="303" r:id="rId15"/>
    <p:sldId id="304" r:id="rId16"/>
    <p:sldId id="305" r:id="rId17"/>
    <p:sldId id="306" r:id="rId18"/>
    <p:sldId id="307" r:id="rId19"/>
    <p:sldId id="308" r:id="rId20"/>
    <p:sldId id="309" r:id="rId2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7" roundtripDataSignature="AMtx7mjt3491jQ7aCoyIz2WXeHKroE7t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AB2ED7F-A766-4751-985D-9044C922602F}" v="312" dt="2026-09-08T13:48:17.839"/>
    <p1510:client id="{BD8D8F82-D132-455F-9C39-E2672B6970D0}" v="117" dt="2026-09-07T08:44:52.413"/>
  </p1510:revLst>
</p1510:revInfo>
</file>

<file path=ppt/tableStyles.xml><?xml version="1.0" encoding="utf-8"?>
<a:tblStyleLst xmlns:a="http://schemas.openxmlformats.org/drawingml/2006/main" def="{0AAD8F4D-43EB-41E5-8A38-28AB6DFB1B60}">
  <a:tblStyle styleId="{0AAD8F4D-43EB-41E5-8A38-28AB6DFB1B6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customschemas.google.com/relationships/presentationmetadata" Target="meta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48C2B95B-FB15-C156-6AF1-35B358181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770A13E9-BC77-63DA-E106-A3FA802281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29067B0F-2F4F-7081-A661-0AE31BFBB7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055410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E37D20EF-0791-5303-F96E-0F0C1B50B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9DCBA8EB-6D71-7B5E-841C-4BFFBDA5F1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5C2CD162-5BE5-06C8-E06C-B4A49D4BCF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313540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11626E4B-E119-2382-6F8F-518641144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01A6FF9F-971F-6CD8-61F5-25638A5985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C8EB5C80-6A4B-AE05-9BE0-03B5AF5C22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827365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>
          <a:extLst>
            <a:ext uri="{FF2B5EF4-FFF2-40B4-BE49-F238E27FC236}">
              <a16:creationId xmlns:a16="http://schemas.microsoft.com/office/drawing/2014/main" id="{59B870D7-ED5B-C7CD-FB99-2991954CA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>
            <a:extLst>
              <a:ext uri="{FF2B5EF4-FFF2-40B4-BE49-F238E27FC236}">
                <a16:creationId xmlns:a16="http://schemas.microsoft.com/office/drawing/2014/main" id="{C8B270BB-F67C-52E3-249C-6FE0C237CA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5:notes">
            <a:extLst>
              <a:ext uri="{FF2B5EF4-FFF2-40B4-BE49-F238E27FC236}">
                <a16:creationId xmlns:a16="http://schemas.microsoft.com/office/drawing/2014/main" id="{151B863E-6240-36E9-EB23-2DAA667D25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798578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79463AA-D7FA-5F7E-C4D0-06BDEDCBB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A84E3171-2C5C-8738-5718-5608CE1B13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E16E406D-2512-5EF2-0167-6C89534695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349666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FB18EFA4-CD13-16C4-504B-6DB7E86CE0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E8E16183-6BFA-E60A-1235-F3BFB1B1F6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C4420B06-3455-3F20-5E28-90535F24DA2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651753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8E9CB32A-B328-07DF-4F33-E0118C920B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8BD392DC-EA03-14B5-7A53-AC36124B41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F90BE8D5-07EC-73D0-0A62-4778024FF05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8420779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4F18774C-544B-0071-4FA9-86D0ADEC5A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68645894-EE59-A5F4-D411-C82EB564E1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FEE489F0-0910-6D8B-0254-C25DB088272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7735855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BB47F127-39C9-4CE0-52A6-66BD53AE96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57CB72F8-8B0E-1466-D091-917F3E75592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1CEA3A31-DD75-5F0D-19FB-8192F5E7F99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4587127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C2F88CF5-D0C3-0228-6C1A-E849738B9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15C41DBA-EB5E-9EB1-28D2-68EF3081A2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9AACA92E-BC74-25E5-B8D5-2E658F81C2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5758711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A795C14E-5D6A-39A3-2018-2C72BB451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85B8BB2F-0927-3841-AC64-CC67B50358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58797E72-A3BC-0A49-07C4-DE7FDA7523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5207868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466C47D1-19F6-52AF-3914-DD3C99058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ACA1F779-4C2B-4CD1-FBDD-A40F0A3223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40004D30-6E86-E263-D5DA-7577B1C759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2216939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2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2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2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97BF8-B3EC-77A2-9BFD-D66830272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600" b="1"/>
              <a:t>IBM University Engagement Project Submission</a:t>
            </a:r>
            <a:br>
              <a:rPr lang="en-US" b="1"/>
            </a:b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AB85A1-2169-FF43-3E91-E2E8ADA742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14730" y="3903663"/>
            <a:ext cx="10515600" cy="1500187"/>
          </a:xfrm>
        </p:spPr>
        <p:txBody>
          <a:bodyPr/>
          <a:lstStyle/>
          <a:p>
            <a:pPr algn="ctr"/>
            <a:r>
              <a:rPr lang="en-US" b="1" i="1"/>
              <a:t>“Exploring the Power of Agentic AI with IBM Granite and IBM Bob”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85595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/>
          <p:nvPr/>
        </p:nvSpPr>
        <p:spPr>
          <a:xfrm>
            <a:off x="690624" y="4425370"/>
            <a:ext cx="10795794" cy="199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endParaRPr sz="15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" name="Google Shape;95;p2"/>
          <p:cNvSpPr txBox="1"/>
          <p:nvPr/>
        </p:nvSpPr>
        <p:spPr>
          <a:xfrm>
            <a:off x="1102321" y="1174639"/>
            <a:ext cx="7426406" cy="451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/>
              <a:buNone/>
            </a:pPr>
            <a:endParaRPr sz="3200" b="1" i="0" u="none" strike="noStrike" cap="non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96" name="Google Shape;96;p2"/>
          <p:cNvGraphicFramePr/>
          <p:nvPr>
            <p:extLst>
              <p:ext uri="{D42A27DB-BD31-4B8C-83A1-F6EECF244321}">
                <p14:modId xmlns:p14="http://schemas.microsoft.com/office/powerpoint/2010/main" val="2271015543"/>
              </p:ext>
            </p:extLst>
          </p:nvPr>
        </p:nvGraphicFramePr>
        <p:xfrm>
          <a:off x="1299257" y="2600315"/>
          <a:ext cx="9394989" cy="2167128"/>
        </p:xfrm>
        <a:graphic>
          <a:graphicData uri="http://schemas.openxmlformats.org/drawingml/2006/table">
            <a:tbl>
              <a:tblPr>
                <a:noFill/>
                <a:tableStyleId>{0AAD8F4D-43EB-41E5-8A38-28AB6DFB1B60}</a:tableStyleId>
              </a:tblPr>
              <a:tblGrid>
                <a:gridCol w="20648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97323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Student Name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Recent Passport Photo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Email ID </a:t>
                      </a:r>
                      <a:endParaRPr sz="2000" b="0" i="0" u="none" strike="noStrike" cap="none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Mobile number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[WhatsApp] 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93891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dirty="0"/>
                        <a:t>Pavan Kumar Koneti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dirty="0"/>
                        <a:t>Pavankumarkoneti63@gmail.com</a:t>
                      </a:r>
                      <a:endParaRPr sz="2000"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dirty="0"/>
                        <a:t>8297165945</a:t>
                      </a:r>
                      <a:endParaRPr sz="2000"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98" name="Google Shape;98;p2"/>
          <p:cNvPicPr preferRelativeResize="0"/>
          <p:nvPr/>
        </p:nvPicPr>
        <p:blipFill rotWithShape="1">
          <a:blip r:embed="rId3"/>
          <a:srcRect/>
          <a:stretch/>
        </p:blipFill>
        <p:spPr>
          <a:xfrm>
            <a:off x="4053024" y="3758072"/>
            <a:ext cx="762500" cy="7625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828B9EF-C084-F5D4-CA27-75AF7D995640}"/>
              </a:ext>
            </a:extLst>
          </p:cNvPr>
          <p:cNvSpPr txBox="1"/>
          <p:nvPr/>
        </p:nvSpPr>
        <p:spPr>
          <a:xfrm>
            <a:off x="1206164" y="1460724"/>
            <a:ext cx="10280254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400" b="1" dirty="0"/>
              <a:t>Domain of  Project – </a:t>
            </a:r>
            <a:r>
              <a:rPr lang="en-US" sz="2400" b="1" dirty="0">
                <a:highlight>
                  <a:srgbClr val="FFFF00"/>
                </a:highlight>
              </a:rPr>
              <a:t>[ </a:t>
            </a:r>
            <a:r>
              <a:rPr lang="en-US" sz="2400" dirty="0">
                <a:highlight>
                  <a:srgbClr val="FFFF00"/>
                </a:highlight>
              </a:rPr>
              <a:t>Agriculture</a:t>
            </a:r>
            <a:r>
              <a:rPr lang="en-US" sz="2400" b="1" dirty="0">
                <a:highlight>
                  <a:srgbClr val="FFFF00"/>
                </a:highlight>
              </a:rPr>
              <a:t>]</a:t>
            </a:r>
            <a:endParaRPr lang="en-IN" sz="2400" b="1" dirty="0">
              <a:highlight>
                <a:srgbClr val="FFFF00"/>
              </a:highligh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723CA3-EC2D-165A-F109-3759C4E9C8A4}"/>
              </a:ext>
            </a:extLst>
          </p:cNvPr>
          <p:cNvSpPr txBox="1"/>
          <p:nvPr/>
        </p:nvSpPr>
        <p:spPr>
          <a:xfrm>
            <a:off x="1206162" y="413420"/>
            <a:ext cx="9581177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400" b="1" dirty="0"/>
              <a:t>Project Tile – [</a:t>
            </a:r>
            <a:r>
              <a:rPr lang="en-US" sz="2400" dirty="0"/>
              <a:t>AI Agent for Smart Farming Advice]</a:t>
            </a:r>
          </a:p>
        </p:txBody>
      </p:sp>
    </p:spTree>
    <p:extLst>
      <p:ext uri="{BB962C8B-B14F-4D97-AF65-F5344CB8AC3E}">
        <p14:creationId xmlns:p14="http://schemas.microsoft.com/office/powerpoint/2010/main" val="9523178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F4C0A7C6-2888-EA53-35AB-4072E6B1F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6F6745E-14BA-0766-CE1E-32E29663832D}"/>
              </a:ext>
            </a:extLst>
          </p:cNvPr>
          <p:cNvSpPr txBox="1"/>
          <p:nvPr/>
        </p:nvSpPr>
        <p:spPr>
          <a:xfrm>
            <a:off x="576072" y="1202953"/>
            <a:ext cx="11602048" cy="544764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000" b="1" dirty="0"/>
              <a:t>AI Agent for Smart Farming Advice</a:t>
            </a:r>
          </a:p>
          <a:p>
            <a:r>
              <a:rPr lang="en-US" sz="2000" dirty="0"/>
              <a:t>Small-scale farmers often need timely and reliable information to make better agricultural decisions.</a:t>
            </a:r>
          </a:p>
          <a:p>
            <a:r>
              <a:rPr lang="en-US" sz="2000" dirty="0"/>
              <a:t>Important information such as:</a:t>
            </a:r>
          </a:p>
          <a:p>
            <a:pPr marL="285750" indent="-285750">
              <a:buChar char="•"/>
            </a:pPr>
            <a:r>
              <a:rPr lang="en-US" sz="2000" dirty="0"/>
              <a:t>Weather forecasts</a:t>
            </a:r>
          </a:p>
          <a:p>
            <a:pPr marL="285750" indent="-285750">
              <a:buChar char="•"/>
            </a:pPr>
            <a:r>
              <a:rPr lang="en-US" sz="2000" dirty="0"/>
              <a:t>Soil conditions</a:t>
            </a:r>
          </a:p>
          <a:p>
            <a:pPr marL="285750" indent="-285750">
              <a:buChar char="•"/>
            </a:pPr>
            <a:r>
              <a:rPr lang="en-US" sz="2000" dirty="0"/>
              <a:t>Crop recommendations</a:t>
            </a:r>
          </a:p>
          <a:p>
            <a:pPr marL="285750" indent="-285750">
              <a:buChar char="•"/>
            </a:pPr>
            <a:r>
              <a:rPr lang="en-US" sz="2000" dirty="0"/>
              <a:t>Pest and disease control</a:t>
            </a:r>
          </a:p>
          <a:p>
            <a:pPr marL="285750" indent="-285750">
              <a:buChar char="•"/>
            </a:pPr>
            <a:r>
              <a:rPr lang="en-US" sz="2000" dirty="0"/>
              <a:t>Irrigation requirements</a:t>
            </a:r>
          </a:p>
          <a:p>
            <a:pPr marL="285750" indent="-285750">
              <a:buChar char="•"/>
            </a:pPr>
            <a:r>
              <a:rPr lang="en-US" sz="2000" dirty="0"/>
              <a:t>Fertilizer management</a:t>
            </a:r>
          </a:p>
          <a:p>
            <a:pPr marL="285750" indent="-285750">
              <a:buChar char="•"/>
            </a:pPr>
            <a:r>
              <a:rPr lang="en-US" sz="2000" dirty="0"/>
              <a:t>Market prices</a:t>
            </a:r>
          </a:p>
          <a:p>
            <a:pPr marL="285750" indent="-285750">
              <a:buChar char="•"/>
            </a:pPr>
            <a:r>
              <a:rPr lang="en-US" sz="2000" dirty="0"/>
              <a:t>Government agricultural schemes</a:t>
            </a:r>
          </a:p>
          <a:p>
            <a:r>
              <a:rPr lang="en-US" sz="2000" dirty="0"/>
              <a:t>may come from different sources.</a:t>
            </a:r>
          </a:p>
          <a:p>
            <a:r>
              <a:rPr lang="en-US" sz="2000" dirty="0"/>
              <a:t>The proposed AI Agent provides localized and personalized agricultural guidance through natural-language interaction.</a:t>
            </a:r>
          </a:p>
          <a:p>
            <a:r>
              <a:rPr lang="en-US" sz="2000" dirty="0"/>
              <a:t>The official AICTE statement describes this as a RAG-powered agent that retrieves trusted agricultural information and helps farmers make timely, data-driven decisions.</a:t>
            </a:r>
          </a:p>
          <a:p>
            <a:endParaRPr lang="en-US" dirty="0"/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47FA31-EA47-D27A-9D69-AF50A3080AEC}"/>
              </a:ext>
            </a:extLst>
          </p:cNvPr>
          <p:cNvSpPr txBox="1"/>
          <p:nvPr/>
        </p:nvSpPr>
        <p:spPr>
          <a:xfrm>
            <a:off x="576072" y="704088"/>
            <a:ext cx="721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/>
              <a:t>Problem Statement -</a:t>
            </a:r>
            <a:endParaRPr lang="en-IN" sz="2400" b="1"/>
          </a:p>
        </p:txBody>
      </p:sp>
    </p:spTree>
    <p:extLst>
      <p:ext uri="{BB962C8B-B14F-4D97-AF65-F5344CB8AC3E}">
        <p14:creationId xmlns:p14="http://schemas.microsoft.com/office/powerpoint/2010/main" val="2616533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0471B467-61AA-7BCA-460D-43041E805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A1BF701-ABCA-4DF0-8330-B6AF71EF8E39}"/>
              </a:ext>
            </a:extLst>
          </p:cNvPr>
          <p:cNvSpPr txBox="1"/>
          <p:nvPr/>
        </p:nvSpPr>
        <p:spPr>
          <a:xfrm>
            <a:off x="536659" y="925699"/>
            <a:ext cx="10646453" cy="63709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fontAlgn="base"/>
            <a:endParaRPr lang="en-US" sz="2000" b="1" dirty="0"/>
          </a:p>
          <a:p>
            <a:r>
              <a:rPr lang="en-US" sz="2000" b="1" dirty="0"/>
              <a:t>Proposed Solution: Smart Farming Advice Agent</a:t>
            </a:r>
          </a:p>
          <a:p>
            <a:r>
              <a:rPr lang="en-US" sz="2000" dirty="0"/>
              <a:t>We developed an AI-powered agricultural advisory application using </a:t>
            </a:r>
            <a:r>
              <a:rPr lang="en-US" sz="2000" b="1" dirty="0"/>
              <a:t>Python Flask and IBM watsonx.ai Granite models</a:t>
            </a:r>
            <a:r>
              <a:rPr lang="en-US" sz="2000" dirty="0"/>
              <a:t>.</a:t>
            </a:r>
          </a:p>
          <a:p>
            <a:r>
              <a:rPr lang="en-US" sz="2000" dirty="0"/>
              <a:t>The system provides a single platform where farmers can obtain different types of farming advice.</a:t>
            </a:r>
          </a:p>
          <a:p>
            <a:r>
              <a:rPr lang="en-US" sz="2000" dirty="0"/>
              <a:t>Main Components</a:t>
            </a:r>
          </a:p>
          <a:p>
            <a:r>
              <a:rPr lang="en-US" sz="2000" b="1" dirty="0" err="1"/>
              <a:t>KisanMitra</a:t>
            </a:r>
            <a:r>
              <a:rPr lang="en-US" sz="2000" b="1" dirty="0"/>
              <a:t> AI Chatbot</a:t>
            </a:r>
            <a:endParaRPr lang="en-US" sz="2000" dirty="0"/>
          </a:p>
          <a:p>
            <a:r>
              <a:rPr lang="en-US" sz="2000" b="1" dirty="0"/>
              <a:t>Soil Analysis</a:t>
            </a:r>
            <a:endParaRPr lang="en-US" sz="2000" dirty="0"/>
          </a:p>
          <a:p>
            <a:r>
              <a:rPr lang="en-US" sz="2000" b="1" dirty="0"/>
              <a:t>Irrigation Advisory</a:t>
            </a:r>
            <a:endParaRPr lang="en-US" sz="2000" dirty="0"/>
          </a:p>
          <a:p>
            <a:r>
              <a:rPr lang="en-US" sz="2000" b="1" dirty="0"/>
              <a:t>Fertilizer Planning</a:t>
            </a:r>
            <a:endParaRPr lang="en-US" sz="2000" dirty="0"/>
          </a:p>
          <a:p>
            <a:r>
              <a:rPr lang="en-US" sz="2000" b="1" dirty="0"/>
              <a:t>Pest &amp; Disease Advisory</a:t>
            </a:r>
            <a:endParaRPr lang="en-US" sz="2000" dirty="0"/>
          </a:p>
          <a:p>
            <a:r>
              <a:rPr lang="en-US" sz="2000" b="1" dirty="0"/>
              <a:t>Weather Advisory</a:t>
            </a:r>
            <a:endParaRPr lang="en-US" sz="2000" dirty="0"/>
          </a:p>
          <a:p>
            <a:r>
              <a:rPr lang="en-US" sz="2000" b="1" dirty="0"/>
              <a:t>Crop Planning</a:t>
            </a:r>
            <a:endParaRPr lang="en-US" sz="2000" dirty="0"/>
          </a:p>
          <a:p>
            <a:r>
              <a:rPr lang="en-US" sz="2000" b="1" dirty="0"/>
              <a:t>Government Schemes</a:t>
            </a:r>
            <a:endParaRPr lang="en-US" sz="2000" dirty="0"/>
          </a:p>
          <a:p>
            <a:r>
              <a:rPr lang="en-US" sz="2000" b="1" dirty="0"/>
              <a:t>Cost Estimation</a:t>
            </a:r>
            <a:endParaRPr lang="en-US" sz="2000" dirty="0"/>
          </a:p>
          <a:p>
            <a:r>
              <a:rPr lang="en-US" sz="2000" b="1" dirty="0"/>
              <a:t>Sustainable Farming</a:t>
            </a:r>
            <a:endParaRPr lang="en-US" sz="2000" dirty="0"/>
          </a:p>
          <a:p>
            <a:r>
              <a:rPr lang="en-US" sz="2000" b="1" dirty="0"/>
              <a:t>Multi-Farm Management</a:t>
            </a:r>
            <a:endParaRPr lang="en-US" sz="2000" dirty="0"/>
          </a:p>
          <a:p>
            <a:r>
              <a:rPr lang="en-US" sz="2000" dirty="0"/>
              <a:t>These capabilities are documented in the actual GitHub project</a:t>
            </a:r>
            <a:r>
              <a:rPr lang="en-US" dirty="0"/>
              <a:t>.</a:t>
            </a:r>
          </a:p>
          <a:p>
            <a:endParaRPr lang="en-US" dirty="0"/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7F30CC-07EF-8FCC-DA00-C9212F5DAECE}"/>
              </a:ext>
            </a:extLst>
          </p:cNvPr>
          <p:cNvSpPr txBox="1"/>
          <p:nvPr/>
        </p:nvSpPr>
        <p:spPr>
          <a:xfrm>
            <a:off x="576072" y="704088"/>
            <a:ext cx="721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/>
              <a:t>Proposed Solution -</a:t>
            </a:r>
            <a:endParaRPr lang="en-IN" sz="2400" b="1"/>
          </a:p>
        </p:txBody>
      </p:sp>
    </p:spTree>
    <p:extLst>
      <p:ext uri="{BB962C8B-B14F-4D97-AF65-F5344CB8AC3E}">
        <p14:creationId xmlns:p14="http://schemas.microsoft.com/office/powerpoint/2010/main" val="6194599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7C2A09DE-0AE2-AA94-B2C1-84FDBDB9D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51FBD4A-3273-E454-091D-D5B0678FC299}"/>
              </a:ext>
            </a:extLst>
          </p:cNvPr>
          <p:cNvSpPr txBox="1"/>
          <p:nvPr/>
        </p:nvSpPr>
        <p:spPr>
          <a:xfrm>
            <a:off x="777240" y="484632"/>
            <a:ext cx="7123176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400" b="1"/>
              <a:t>Technology Used</a:t>
            </a:r>
            <a:endParaRPr lang="en-IN" sz="2400" b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7608B5-9906-EFCF-959A-E89FC2E3EE19}"/>
              </a:ext>
            </a:extLst>
          </p:cNvPr>
          <p:cNvSpPr txBox="1"/>
          <p:nvPr/>
        </p:nvSpPr>
        <p:spPr>
          <a:xfrm>
            <a:off x="777240" y="826008"/>
            <a:ext cx="10515600" cy="695575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Technology Stack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 IBM Technologies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IBM Cloud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IBM watsonx.ai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IBM Granite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Backend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Python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Flask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REST APIs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Frontend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HTML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CSS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JavaScript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Development Tools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Git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GitHub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VS Code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AI Model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IBM Granite 3.3 8B Instruct</a:t>
            </a: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436039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>
          <a:extLst>
            <a:ext uri="{FF2B5EF4-FFF2-40B4-BE49-F238E27FC236}">
              <a16:creationId xmlns:a16="http://schemas.microsoft.com/office/drawing/2014/main" id="{CDF2A78E-5A0E-6814-8AF4-0AE54B036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">
            <a:extLst>
              <a:ext uri="{FF2B5EF4-FFF2-40B4-BE49-F238E27FC236}">
                <a16:creationId xmlns:a16="http://schemas.microsoft.com/office/drawing/2014/main" id="{2A145802-2DD3-EEBA-7D44-210C05B98C91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>
                <a:sym typeface="Times New Roman"/>
              </a:rPr>
              <a:t>Required Files created using IBM bob -</a:t>
            </a:r>
            <a:endParaRPr sz="2400" b="1">
              <a:sym typeface="Times New Roman"/>
            </a:endParaRPr>
          </a:p>
        </p:txBody>
      </p:sp>
      <p:sp>
        <p:nvSpPr>
          <p:cNvPr id="148" name="Google Shape;148;p5">
            <a:extLst>
              <a:ext uri="{FF2B5EF4-FFF2-40B4-BE49-F238E27FC236}">
                <a16:creationId xmlns:a16="http://schemas.microsoft.com/office/drawing/2014/main" id="{69E3EADC-1EAD-7419-145C-20998925206E}"/>
              </a:ext>
            </a:extLst>
          </p:cNvPr>
          <p:cNvSpPr/>
          <p:nvPr/>
        </p:nvSpPr>
        <p:spPr>
          <a:xfrm>
            <a:off x="2264331" y="6784578"/>
            <a:ext cx="2140744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" name="Google Shape;149;p5">
            <a:extLst>
              <a:ext uri="{FF2B5EF4-FFF2-40B4-BE49-F238E27FC236}">
                <a16:creationId xmlns:a16="http://schemas.microsoft.com/office/drawing/2014/main" id="{04E5872A-C331-C8F3-5D71-8E953BAAFE03}"/>
              </a:ext>
            </a:extLst>
          </p:cNvPr>
          <p:cNvSpPr/>
          <p:nvPr/>
        </p:nvSpPr>
        <p:spPr>
          <a:xfrm>
            <a:off x="1782604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" name="Google Shape;150;p5">
            <a:extLst>
              <a:ext uri="{FF2B5EF4-FFF2-40B4-BE49-F238E27FC236}">
                <a16:creationId xmlns:a16="http://schemas.microsoft.com/office/drawing/2014/main" id="{76EF3801-5D99-5EFA-9AA2-AD265775E354}"/>
              </a:ext>
            </a:extLst>
          </p:cNvPr>
          <p:cNvSpPr/>
          <p:nvPr/>
        </p:nvSpPr>
        <p:spPr>
          <a:xfrm>
            <a:off x="5732383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" name="Google Shape;151;p5">
            <a:extLst>
              <a:ext uri="{FF2B5EF4-FFF2-40B4-BE49-F238E27FC236}">
                <a16:creationId xmlns:a16="http://schemas.microsoft.com/office/drawing/2014/main" id="{DAD76A8A-9F2C-9EA9-25E9-40CD0FFAA869}"/>
              </a:ext>
            </a:extLst>
          </p:cNvPr>
          <p:cNvSpPr/>
          <p:nvPr/>
        </p:nvSpPr>
        <p:spPr>
          <a:xfrm>
            <a:off x="5077301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" name="Google Shape;152;p5">
            <a:extLst>
              <a:ext uri="{FF2B5EF4-FFF2-40B4-BE49-F238E27FC236}">
                <a16:creationId xmlns:a16="http://schemas.microsoft.com/office/drawing/2014/main" id="{8D9C4260-2673-337C-C898-4C22E0F8FD65}"/>
              </a:ext>
            </a:extLst>
          </p:cNvPr>
          <p:cNvSpPr/>
          <p:nvPr/>
        </p:nvSpPr>
        <p:spPr>
          <a:xfrm>
            <a:off x="9027081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Google Shape;153;p5">
            <a:extLst>
              <a:ext uri="{FF2B5EF4-FFF2-40B4-BE49-F238E27FC236}">
                <a16:creationId xmlns:a16="http://schemas.microsoft.com/office/drawing/2014/main" id="{6167C3C6-3747-E373-84C3-3927C443B067}"/>
              </a:ext>
            </a:extLst>
          </p:cNvPr>
          <p:cNvSpPr/>
          <p:nvPr/>
        </p:nvSpPr>
        <p:spPr>
          <a:xfrm>
            <a:off x="8371999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BBDACEC-0DC5-B1A6-A7D2-31D72F5A79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631" y="746605"/>
            <a:ext cx="9441103" cy="5818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49636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CA6090C0-0478-84F9-6D20-717B6FEB7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B64CF172-D2AF-03D8-F919-AA7827A0D969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3500" b="1" i="0" u="none" strike="noStrike" cap="none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1" i="0" u="none" strike="noStrike" cap="none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IBM Bob Screenshots:</a:t>
            </a:r>
            <a:endParaRPr sz="2400" b="1">
              <a:sym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ABF58B1-D23B-3994-66FE-BCE6F7F11E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8571" y="969818"/>
            <a:ext cx="9287163" cy="5780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65455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9B50433-0BC1-20CB-B389-1667068F82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3842" y="292485"/>
            <a:ext cx="9664316" cy="6042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3718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78578745-3233-E2C4-2AF4-55BA57C68D3F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en-US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Architecture blueprint for IBM bob:</a:t>
            </a:r>
            <a:endParaRPr lang="en-US" sz="240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B5CD1CA-4C25-2BC5-4F11-70E7739FC4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8258" y="792787"/>
            <a:ext cx="9055485" cy="6065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51951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71985" y="1167493"/>
            <a:ext cx="3015343" cy="452301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84A7B44-8B20-5A39-ED43-DA98D0FC7976}"/>
              </a:ext>
            </a:extLst>
          </p:cNvPr>
          <p:cNvSpPr txBox="1"/>
          <p:nvPr/>
        </p:nvSpPr>
        <p:spPr>
          <a:xfrm>
            <a:off x="475488" y="283464"/>
            <a:ext cx="93177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/>
              <a:t>Role of Agentic AI in the solution </a:t>
            </a:r>
            <a:endParaRPr lang="en-IN" sz="3200" b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2462E8-EB3A-DA7D-44CB-4E757803A755}"/>
              </a:ext>
            </a:extLst>
          </p:cNvPr>
          <p:cNvSpPr txBox="1"/>
          <p:nvPr/>
        </p:nvSpPr>
        <p:spPr>
          <a:xfrm>
            <a:off x="621792" y="1167493"/>
            <a:ext cx="7406640" cy="418576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b="1" dirty="0"/>
              <a:t>Role of Agentic AI </a:t>
            </a:r>
            <a:endParaRPr lang="en-US" dirty="0"/>
          </a:p>
          <a:p>
            <a:r>
              <a:rPr lang="en-US" dirty="0"/>
              <a:t>Agentic AI enables the farming assistant to go beyond a simple question-answer chatbot.</a:t>
            </a:r>
          </a:p>
          <a:p>
            <a:r>
              <a:rPr lang="en-US" dirty="0"/>
              <a:t>Agentic Capabilities</a:t>
            </a:r>
          </a:p>
          <a:p>
            <a:pPr marL="285750" indent="-285750">
              <a:buChar char="•"/>
            </a:pPr>
            <a:r>
              <a:rPr lang="en-US" dirty="0"/>
              <a:t>Understand farmer queries</a:t>
            </a:r>
          </a:p>
          <a:p>
            <a:pPr marL="285750" indent="-285750">
              <a:buChar char="•"/>
            </a:pPr>
            <a:r>
              <a:rPr lang="en-US" dirty="0"/>
              <a:t>Identify the farming requirement</a:t>
            </a:r>
          </a:p>
          <a:p>
            <a:pPr marL="285750" indent="-285750">
              <a:buChar char="•"/>
            </a:pPr>
            <a:r>
              <a:rPr lang="en-US" dirty="0"/>
              <a:t>Process relevant inputs</a:t>
            </a:r>
          </a:p>
          <a:p>
            <a:pPr marL="285750" indent="-285750">
              <a:buChar char="•"/>
            </a:pPr>
            <a:r>
              <a:rPr lang="en-US" dirty="0"/>
              <a:t>Apply farming-specific instructions</a:t>
            </a:r>
          </a:p>
          <a:p>
            <a:pPr marL="285750" indent="-285750">
              <a:buChar char="•"/>
            </a:pPr>
            <a:r>
              <a:rPr lang="en-US" dirty="0"/>
              <a:t>Generate personalized recommendations</a:t>
            </a:r>
          </a:p>
          <a:p>
            <a:pPr marL="285750" indent="-285750">
              <a:buChar char="•"/>
            </a:pPr>
            <a:r>
              <a:rPr lang="en-US" dirty="0"/>
              <a:t>Maintain conversational context</a:t>
            </a:r>
          </a:p>
          <a:p>
            <a:pPr marL="285750" indent="-285750">
              <a:buChar char="•"/>
            </a:pPr>
            <a:r>
              <a:rPr lang="en-US" dirty="0"/>
              <a:t>Support multiple farming advisory tasks</a:t>
            </a:r>
          </a:p>
          <a:p>
            <a:pPr marL="285750" indent="-285750">
              <a:buChar char="•"/>
            </a:pPr>
            <a:r>
              <a:rPr lang="en-US" dirty="0"/>
              <a:t>Adapt responses according to farmer and farm information</a:t>
            </a:r>
          </a:p>
          <a:p>
            <a:r>
              <a:rPr lang="en-US" dirty="0"/>
              <a:t>Example</a:t>
            </a:r>
          </a:p>
          <a:p>
            <a:r>
              <a:rPr lang="en-US" b="1" dirty="0"/>
              <a:t>Farmer:</a:t>
            </a:r>
            <a:endParaRPr lang="en-US" dirty="0"/>
          </a:p>
          <a:p>
            <a:r>
              <a:rPr lang="en-US" dirty="0"/>
              <a:t>"My crop is at the flowering stage. Give me irrigation advice."</a:t>
            </a:r>
          </a:p>
          <a:p>
            <a:r>
              <a:rPr lang="en-US" b="1" dirty="0"/>
              <a:t>Agent:</a:t>
            </a:r>
            <a:endParaRPr lang="en-US" dirty="0"/>
          </a:p>
          <a:p>
            <a:r>
              <a:rPr lang="en-US" dirty="0"/>
              <a:t>Understands the crop stage and generates relevant irrigation guidance.</a:t>
            </a:r>
          </a:p>
          <a:p>
            <a:r>
              <a:rPr lang="en-US" dirty="0"/>
              <a:t>Your project includes editable agent persona, expertise domains, Indian agriculture context, safety rules and response-format instructions.</a:t>
            </a:r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0006969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55016524-E738-3D8C-3BB2-B0BE7C665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D62F03A8-A8A8-CB93-006E-7173DC866F6F}"/>
              </a:ext>
            </a:extLst>
          </p:cNvPr>
          <p:cNvSpPr/>
          <p:nvPr/>
        </p:nvSpPr>
        <p:spPr>
          <a:xfrm>
            <a:off x="793192" y="34156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  <a:buClr>
                <a:srgbClr val="051D3A"/>
              </a:buClr>
              <a:buSzPts val="3500"/>
            </a:pPr>
            <a:r>
              <a:rPr lang="en-US" sz="2400" b="1">
                <a:sym typeface="Times New Roman"/>
              </a:rPr>
              <a:t>Token Usage </a:t>
            </a:r>
            <a:endParaRPr sz="2400" b="1"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A4423EF4-BB52-2693-03DD-9F7D92D05218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FF042814-8077-DBD5-E8B6-E0D870CADB86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6A2761AF-8A54-98F2-52C2-794D9BA61C92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D576A0-BF64-32B6-1E59-49AA2C59C5CE}"/>
              </a:ext>
            </a:extLst>
          </p:cNvPr>
          <p:cNvSpPr txBox="1"/>
          <p:nvPr/>
        </p:nvSpPr>
        <p:spPr>
          <a:xfrm>
            <a:off x="897392" y="1042133"/>
            <a:ext cx="4371171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11,761 token are used</a:t>
            </a:r>
          </a:p>
        </p:txBody>
      </p:sp>
      <p:pic>
        <p:nvPicPr>
          <p:cNvPr id="12" name="Picture 1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E29AF1D-88C4-87E5-74DF-4E97121E06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240" y="2453592"/>
            <a:ext cx="5095875" cy="2857500"/>
          </a:xfrm>
          <a:prstGeom prst="rect">
            <a:avLst/>
          </a:prstGeom>
        </p:spPr>
      </p:pic>
      <p:pic>
        <p:nvPicPr>
          <p:cNvPr id="13" name="Picture 1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81444F5-0692-DD67-1759-70821E53B0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9601" y="2451181"/>
            <a:ext cx="5724525" cy="28575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B8E599E-5B1D-59CD-4F1D-CEF8D0CA327B}"/>
              </a:ext>
            </a:extLst>
          </p:cNvPr>
          <p:cNvSpPr txBox="1"/>
          <p:nvPr/>
        </p:nvSpPr>
        <p:spPr>
          <a:xfrm>
            <a:off x="1278639" y="1718067"/>
            <a:ext cx="274319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u="sng"/>
              <a:t>Before Prompt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22EA981-5113-2D05-C1A2-169306E1D47C}"/>
              </a:ext>
            </a:extLst>
          </p:cNvPr>
          <p:cNvSpPr txBox="1"/>
          <p:nvPr/>
        </p:nvSpPr>
        <p:spPr>
          <a:xfrm>
            <a:off x="7106828" y="1722919"/>
            <a:ext cx="274319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u="sng"/>
              <a:t>After the Prompt</a:t>
            </a:r>
          </a:p>
        </p:txBody>
      </p:sp>
    </p:spTree>
    <p:extLst>
      <p:ext uri="{BB962C8B-B14F-4D97-AF65-F5344CB8AC3E}">
        <p14:creationId xmlns:p14="http://schemas.microsoft.com/office/powerpoint/2010/main" val="8934170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1863F011-FD59-2782-3732-0E3263170F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78DA0257-5105-834D-150D-50732C7248D1}"/>
              </a:ext>
            </a:extLst>
          </p:cNvPr>
          <p:cNvSpPr/>
          <p:nvPr/>
        </p:nvSpPr>
        <p:spPr>
          <a:xfrm>
            <a:off x="409144" y="11296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  <a:buClr>
                <a:srgbClr val="051D3A"/>
              </a:buClr>
              <a:buSzPts val="3500"/>
            </a:pPr>
            <a:r>
              <a:rPr lang="en-US" sz="2400" b="1">
                <a:sym typeface="Times New Roman"/>
              </a:rPr>
              <a:t> Project Output Screenshot</a:t>
            </a:r>
            <a:endParaRPr sz="2400" b="1"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827D77C8-2496-7668-B3B3-927FD4DB704D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46BDB3C0-B0E9-3C3A-A974-6BF43591F3FC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8CB1AEC3-7C17-0CCE-61FA-643373D6AE22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CA977A3-5FA0-8FF5-E1D1-86C9ED676512}"/>
              </a:ext>
            </a:extLst>
          </p:cNvPr>
          <p:cNvSpPr txBox="1"/>
          <p:nvPr/>
        </p:nvSpPr>
        <p:spPr>
          <a:xfrm>
            <a:off x="1335024" y="1865376"/>
            <a:ext cx="683392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>
                <a:solidFill>
                  <a:srgbClr val="FF0000"/>
                </a:solidFill>
              </a:rPr>
              <a:t>Please put IBM Bob output screenshots with 2-3 prompts. </a:t>
            </a:r>
          </a:p>
          <a:p>
            <a:r>
              <a:rPr lang="en-US" sz="2000">
                <a:solidFill>
                  <a:srgbClr val="FF0000"/>
                </a:solidFill>
              </a:rPr>
              <a:t>You can take 2-3 more slides for each screenshot</a:t>
            </a:r>
            <a:endParaRPr lang="en-IN" sz="2000">
              <a:solidFill>
                <a:srgbClr val="FF0000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D38066C-3A06-C7FD-7E81-A8122D72498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16" t="4067" r="-898" b="-4067"/>
          <a:stretch>
            <a:fillRect/>
          </a:stretch>
        </p:blipFill>
        <p:spPr>
          <a:xfrm>
            <a:off x="1217660" y="1000606"/>
            <a:ext cx="9441114" cy="5487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99618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A1254DC3-8448-76A3-8631-9484D98C80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A5DD5E73-E4F8-AB1C-5A5A-D4EBAD6FD1B8}"/>
              </a:ext>
            </a:extLst>
          </p:cNvPr>
          <p:cNvSpPr/>
          <p:nvPr/>
        </p:nvSpPr>
        <p:spPr>
          <a:xfrm>
            <a:off x="409144" y="11296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  <a:buClr>
                <a:srgbClr val="051D3A"/>
              </a:buClr>
              <a:buSzPts val="3500"/>
            </a:pPr>
            <a:r>
              <a:rPr lang="en-US" sz="2400" b="1">
                <a:sym typeface="Times New Roman"/>
              </a:rPr>
              <a:t> Project Output Screenshot</a:t>
            </a:r>
            <a:endParaRPr sz="2400" b="1"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E6E4A7DC-3E1D-42C4-3256-8A3109D5036E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1EC4E285-5561-2096-3270-252023A42F4B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FA8B1B6D-C213-0DFE-C434-B14C5F9945F5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692D13D-6B69-03D8-BA22-587B943A2572}"/>
              </a:ext>
            </a:extLst>
          </p:cNvPr>
          <p:cNvSpPr txBox="1"/>
          <p:nvPr/>
        </p:nvSpPr>
        <p:spPr>
          <a:xfrm>
            <a:off x="1335024" y="1865376"/>
            <a:ext cx="683392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>
                <a:solidFill>
                  <a:srgbClr val="FF0000"/>
                </a:solidFill>
              </a:rPr>
              <a:t>Please put IBM Bob output screenshots with 2-3 prompts. </a:t>
            </a:r>
          </a:p>
          <a:p>
            <a:r>
              <a:rPr lang="en-US" sz="2000">
                <a:solidFill>
                  <a:srgbClr val="FF0000"/>
                </a:solidFill>
              </a:rPr>
              <a:t>You can take 2-3 more slides for each screenshot</a:t>
            </a:r>
            <a:endParaRPr lang="en-IN" sz="2000">
              <a:solidFill>
                <a:srgbClr val="FF0000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0E319AA-BCB4-B4F2-6F54-18641DB013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800483"/>
            <a:ext cx="10849648" cy="5918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50923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E3C4AEBB-2963-4EEE-D8ED-E3B5ABCFF2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67AD5A0A-54A3-BC96-26BB-9C49B61555EC}"/>
              </a:ext>
            </a:extLst>
          </p:cNvPr>
          <p:cNvSpPr/>
          <p:nvPr/>
        </p:nvSpPr>
        <p:spPr>
          <a:xfrm>
            <a:off x="409144" y="11296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  <a:buClr>
                <a:srgbClr val="051D3A"/>
              </a:buClr>
              <a:buSzPts val="3500"/>
            </a:pPr>
            <a:r>
              <a:rPr lang="en-US" sz="2400" b="1">
                <a:sym typeface="Times New Roman"/>
              </a:rPr>
              <a:t> Project Output Screenshot</a:t>
            </a:r>
            <a:endParaRPr sz="2400" b="1"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A12490E1-7210-03FA-8406-7044E50A98B3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D0575C07-AA6B-0149-734C-B101314C9343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77B9C142-F05E-0FCB-045D-6B4B10F795C3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B55001C-8880-8B09-8704-29D3F62E7A03}"/>
              </a:ext>
            </a:extLst>
          </p:cNvPr>
          <p:cNvSpPr txBox="1"/>
          <p:nvPr/>
        </p:nvSpPr>
        <p:spPr>
          <a:xfrm>
            <a:off x="1335024" y="1865376"/>
            <a:ext cx="683392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>
                <a:solidFill>
                  <a:srgbClr val="FF0000"/>
                </a:solidFill>
              </a:rPr>
              <a:t>Please put IBM Bob output screenshots with 2-3 prompts. </a:t>
            </a:r>
          </a:p>
          <a:p>
            <a:r>
              <a:rPr lang="en-US" sz="2000">
                <a:solidFill>
                  <a:srgbClr val="FF0000"/>
                </a:solidFill>
              </a:rPr>
              <a:t>You can take 2-3 more slides for each screenshot</a:t>
            </a:r>
            <a:endParaRPr lang="en-IN" sz="2000">
              <a:solidFill>
                <a:srgbClr val="FF0000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29B3A39-6428-ACA3-65B1-84C2ED456C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7660" y="815880"/>
            <a:ext cx="9425711" cy="5911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19071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EEDEC80F-FA4E-F3FF-DE90-87B861D0B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FA184BA-BCF2-3D7B-30D0-0F3CF30C161B}"/>
              </a:ext>
            </a:extLst>
          </p:cNvPr>
          <p:cNvSpPr txBox="1"/>
          <p:nvPr/>
        </p:nvSpPr>
        <p:spPr>
          <a:xfrm>
            <a:off x="777240" y="484632"/>
            <a:ext cx="7123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/>
              <a:t>Novelty and Uniqueness</a:t>
            </a:r>
            <a:endParaRPr lang="en-IN" sz="2400" b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65F54F-855A-0DB6-09A6-3212C5F7405B}"/>
              </a:ext>
            </a:extLst>
          </p:cNvPr>
          <p:cNvSpPr txBox="1"/>
          <p:nvPr/>
        </p:nvSpPr>
        <p:spPr>
          <a:xfrm>
            <a:off x="777240" y="1207008"/>
            <a:ext cx="11301984" cy="523220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IN" sz="2000" dirty="0"/>
              <a:t>The Smart Farming Advice Agent combines multiple agricultural advisory functions into a single AI-powered platform.</a:t>
            </a:r>
            <a:endParaRPr lang="en-US"/>
          </a:p>
          <a:p>
            <a:r>
              <a:rPr lang="en-IN" sz="2000" dirty="0"/>
              <a:t>Key Innovations</a:t>
            </a:r>
          </a:p>
          <a:p>
            <a:r>
              <a:rPr lang="en-IN" sz="2000" b="1" dirty="0"/>
              <a:t>1. Unified Agricultural Assistant</a:t>
            </a:r>
            <a:endParaRPr lang="en-IN" sz="2000" dirty="0"/>
          </a:p>
          <a:p>
            <a:r>
              <a:rPr lang="en-IN" sz="2000" dirty="0"/>
              <a:t>Multiple farming services are available through one platform.</a:t>
            </a:r>
          </a:p>
          <a:p>
            <a:r>
              <a:rPr lang="en-IN" sz="2000" b="1" dirty="0"/>
              <a:t>2. Personalized Advice</a:t>
            </a:r>
            <a:endParaRPr lang="en-IN" sz="2000" dirty="0"/>
          </a:p>
          <a:p>
            <a:r>
              <a:rPr lang="en-IN" sz="2000" dirty="0"/>
              <a:t>Recommendations can consider farmer and farm context.</a:t>
            </a:r>
          </a:p>
          <a:p>
            <a:r>
              <a:rPr lang="en-IN" sz="2000" b="1" dirty="0"/>
              <a:t>3. Conversational AI</a:t>
            </a:r>
            <a:endParaRPr lang="en-IN" sz="2000" dirty="0"/>
          </a:p>
          <a:p>
            <a:r>
              <a:rPr lang="en-IN" sz="2000" dirty="0"/>
              <a:t>Farmers can interact using natural-language questions.</a:t>
            </a:r>
          </a:p>
          <a:p>
            <a:r>
              <a:rPr lang="en-IN" sz="2000" b="1" dirty="0"/>
              <a:t>4. Multi-Domain Farming Support</a:t>
            </a:r>
            <a:endParaRPr lang="en-IN" sz="2000" dirty="0"/>
          </a:p>
          <a:p>
            <a:r>
              <a:rPr lang="en-IN" sz="2000" dirty="0"/>
              <a:t>Soil, irrigation, fertilizer, pests, weather, crops, schemes and cost analysis are integrated.</a:t>
            </a:r>
          </a:p>
          <a:p>
            <a:r>
              <a:rPr lang="en-IN" sz="2000" b="1" dirty="0"/>
              <a:t>5. Indian Agriculture Focus</a:t>
            </a:r>
            <a:endParaRPr lang="en-IN" sz="2000" dirty="0"/>
          </a:p>
          <a:p>
            <a:r>
              <a:rPr lang="en-IN" sz="2000" dirty="0"/>
              <a:t>The system includes Indian agriculture context and Indian government schemes.</a:t>
            </a:r>
          </a:p>
          <a:p>
            <a:r>
              <a:rPr lang="en-IN" sz="2000" b="1" dirty="0"/>
              <a:t>6. Customizable AI Agent</a:t>
            </a:r>
            <a:endParaRPr lang="en-IN" sz="2000" dirty="0"/>
          </a:p>
          <a:p>
            <a:r>
              <a:rPr lang="en-IN" sz="2000" dirty="0"/>
              <a:t>The AI persona, tone, expertise and safety rules can be customized.</a:t>
            </a:r>
          </a:p>
          <a:p>
            <a:r>
              <a:rPr lang="en-IN" sz="2000" dirty="0"/>
              <a:t>These capabilities are reflected in the actual repository.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252822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7BB3C0CA-2F24-30DF-1D65-4440B864F0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187EEB9C-2E84-113A-3CE6-1507BF5B039F}"/>
              </a:ext>
            </a:extLst>
          </p:cNvPr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>
                <a:sym typeface="Times New Roman"/>
              </a:rPr>
              <a:t>Git Hub Link</a:t>
            </a:r>
            <a:endParaRPr sz="2400" b="1"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3711AF54-94A6-B837-31EF-9A8C4ECB9AF6}"/>
              </a:ext>
            </a:extLst>
          </p:cNvPr>
          <p:cNvSpPr/>
          <p:nvPr/>
        </p:nvSpPr>
        <p:spPr>
          <a:xfrm>
            <a:off x="1218724" y="1153712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r>
              <a:rPr lang="en-US" sz="1850" dirty="0">
                <a:solidFill>
                  <a:srgbClr val="2B3541"/>
                </a:solidFill>
                <a:ea typeface="Times New Roman"/>
                <a:sym typeface="Times New Roman"/>
              </a:rPr>
              <a:t>https://github.com/pavan09876519/Farming-Advice-</a:t>
            </a:r>
            <a:r>
              <a:rPr lang="en-US" sz="1850" dirty="0" err="1">
                <a:solidFill>
                  <a:srgbClr val="2B3541"/>
                </a:solidFill>
                <a:ea typeface="Times New Roman"/>
                <a:sym typeface="Times New Roman"/>
              </a:rPr>
              <a:t>Agent.git</a:t>
            </a:r>
            <a:endParaRPr lang="en-US" sz="1850" b="0" i="0" u="none" strike="noStrike" cap="none" dirty="0" err="1">
              <a:solidFill>
                <a:srgbClr val="2B3541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E228982D-BF81-530A-CBA1-E897A3CA8EF7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7BC356B8-92F8-3187-D065-667AACF68E72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1558A011-60D6-B010-6117-1B9F7C786B2B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0404122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6FA0F82B-7EE5-EAB0-F470-130BDAC82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0668C6FD-577A-7288-5642-1AFC22BD04F2}"/>
              </a:ext>
            </a:extLst>
          </p:cNvPr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>
                <a:sym typeface="Times New Roman"/>
              </a:rPr>
              <a:t>Future Scope </a:t>
            </a:r>
            <a:endParaRPr sz="2400" b="1"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EAFA16CB-0A72-5AC5-69A0-ABF4A752B43F}"/>
              </a:ext>
            </a:extLst>
          </p:cNvPr>
          <p:cNvSpPr/>
          <p:nvPr/>
        </p:nvSpPr>
        <p:spPr>
          <a:xfrm>
            <a:off x="1218724" y="1221715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US" sz="2000" b="1" dirty="0"/>
              <a:t>1. Multilingual Support</a:t>
            </a:r>
          </a:p>
          <a:p>
            <a:r>
              <a:rPr lang="en-US" sz="2000" dirty="0">
                <a:solidFill>
                  <a:srgbClr val="2B3541"/>
                </a:solidFill>
              </a:rPr>
              <a:t>Support Telugu, Hindi and other regional languages.</a:t>
            </a:r>
            <a:endParaRPr lang="en-US" sz="2000" dirty="0"/>
          </a:p>
          <a:p>
            <a:r>
              <a:rPr lang="en-US" sz="2000" b="1" dirty="0"/>
              <a:t>2. Voice Assistant</a:t>
            </a:r>
          </a:p>
          <a:p>
            <a:r>
              <a:rPr lang="en-US" sz="2000" dirty="0">
                <a:solidFill>
                  <a:srgbClr val="2B3541"/>
                </a:solidFill>
              </a:rPr>
              <a:t>Allow farmers to ask questions through voice.</a:t>
            </a:r>
            <a:endParaRPr lang="en-US" sz="2000" dirty="0"/>
          </a:p>
          <a:p>
            <a:r>
              <a:rPr lang="en-US" sz="2000" b="1" dirty="0"/>
              <a:t>3. Live Weather Integration</a:t>
            </a:r>
          </a:p>
          <a:p>
            <a:r>
              <a:rPr lang="en-US" sz="2000" dirty="0">
                <a:solidFill>
                  <a:srgbClr val="2B3541"/>
                </a:solidFill>
              </a:rPr>
              <a:t>Connect real-time weather services for dynamic advisories.</a:t>
            </a:r>
            <a:endParaRPr lang="en-US" sz="2000" dirty="0"/>
          </a:p>
          <a:p>
            <a:r>
              <a:rPr lang="en-US" sz="2000" b="1" dirty="0"/>
              <a:t>4. Live Mandi Prices</a:t>
            </a:r>
          </a:p>
          <a:p>
            <a:r>
              <a:rPr lang="en-US" sz="2000" dirty="0">
                <a:solidFill>
                  <a:srgbClr val="2B3541"/>
                </a:solidFill>
              </a:rPr>
              <a:t>Integrate current market prices from trusted agricultural sources.</a:t>
            </a:r>
            <a:endParaRPr lang="en-US" sz="2000" dirty="0"/>
          </a:p>
          <a:p>
            <a:r>
              <a:rPr lang="en-US" sz="2000" b="1" dirty="0"/>
              <a:t>5. Image-Based Disease Detection</a:t>
            </a:r>
          </a:p>
          <a:p>
            <a:r>
              <a:rPr lang="en-US" sz="2000" dirty="0">
                <a:solidFill>
                  <a:srgbClr val="2B3541"/>
                </a:solidFill>
              </a:rPr>
              <a:t>Allow farmers to upload crop images for disease analysis.</a:t>
            </a:r>
            <a:endParaRPr lang="en-US" sz="2000" dirty="0"/>
          </a:p>
          <a:p>
            <a:r>
              <a:rPr lang="en-US" sz="2000" b="1" dirty="0"/>
              <a:t>6. IoT Integration</a:t>
            </a:r>
          </a:p>
          <a:p>
            <a:r>
              <a:rPr lang="en-US" sz="2000" dirty="0">
                <a:solidFill>
                  <a:srgbClr val="2B3541"/>
                </a:solidFill>
              </a:rPr>
              <a:t>Use soil-moisture and environmental sensors.</a:t>
            </a:r>
            <a:endParaRPr lang="en-US" sz="2000" dirty="0"/>
          </a:p>
          <a:p>
            <a:r>
              <a:rPr lang="en-US" sz="2000" b="1" dirty="0"/>
              <a:t>7. Mobile Application</a:t>
            </a:r>
          </a:p>
          <a:p>
            <a:r>
              <a:rPr lang="en-US" sz="2000" dirty="0">
                <a:solidFill>
                  <a:srgbClr val="2B3541"/>
                </a:solidFill>
              </a:rPr>
              <a:t>Develop Android/iOS applications for easier access.</a:t>
            </a:r>
            <a:endParaRPr lang="en-US" sz="2000" dirty="0"/>
          </a:p>
          <a:p>
            <a:r>
              <a:rPr lang="en-US" sz="2000" b="1" dirty="0"/>
              <a:t>8. Advanced RAG</a:t>
            </a:r>
          </a:p>
          <a:p>
            <a:r>
              <a:rPr lang="en-US" sz="2000" dirty="0">
                <a:solidFill>
                  <a:srgbClr val="2B3541"/>
                </a:solidFill>
              </a:rPr>
              <a:t>Connect trusted agricultural knowledge bases and government sources.</a:t>
            </a:r>
            <a:endParaRPr lang="en-US" sz="2000" dirty="0"/>
          </a:p>
          <a:p>
            <a:pPr marL="0" marR="0" lvl="0" indent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SzPts val="1850"/>
              <a:buFont typeface="Times New Roman"/>
              <a:buNone/>
            </a:pPr>
            <a:endParaRPr lang="en-US" sz="1850" b="1" i="0" u="none" strike="noStrike" cap="none" dirty="0">
              <a:solidFill>
                <a:srgbClr val="2B3541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B888011B-E4AC-77DB-4A60-BE2C891C49F5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91F05971-9256-10B5-6575-4E7C679C6DAA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F1C3EBC2-438F-C150-9ABF-F14321C2CC5C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7400284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F1C7BCA-5DD7-F4D3-A937-D1C56976DA01}"/>
              </a:ext>
            </a:extLst>
          </p:cNvPr>
          <p:cNvSpPr txBox="1"/>
          <p:nvPr/>
        </p:nvSpPr>
        <p:spPr>
          <a:xfrm>
            <a:off x="327949" y="207380"/>
            <a:ext cx="6096000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/>
              <a:t>Certificates Earned:</a:t>
            </a:r>
          </a:p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37D5EE-379B-FDC5-0854-8AC81D31FADF}"/>
              </a:ext>
            </a:extLst>
          </p:cNvPr>
          <p:cNvSpPr txBox="1"/>
          <p:nvPr/>
        </p:nvSpPr>
        <p:spPr>
          <a:xfrm>
            <a:off x="552048" y="690061"/>
            <a:ext cx="11453139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/>
              <a:t>Please  add your </a:t>
            </a:r>
            <a:r>
              <a:rPr lang="en-US" sz="2400" b="1" dirty="0" err="1"/>
              <a:t>credly</a:t>
            </a:r>
            <a:r>
              <a:rPr lang="en-US" sz="2400" b="1" dirty="0"/>
              <a:t> certificate(Getting Started with Artificial Intelligence)  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33BADBC-6623-0D21-CD7E-B05CE0A81B97}"/>
              </a:ext>
            </a:extLst>
          </p:cNvPr>
          <p:cNvSpPr/>
          <p:nvPr/>
        </p:nvSpPr>
        <p:spPr>
          <a:xfrm>
            <a:off x="2841524" y="2979175"/>
            <a:ext cx="4414683" cy="4498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61C70BD-E38B-D526-0189-D602AAC1FE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5811" y="1169939"/>
            <a:ext cx="7317227" cy="5672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34827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A8544A9-CF92-3FAF-D3EE-31DF90F7A64D}"/>
              </a:ext>
            </a:extLst>
          </p:cNvPr>
          <p:cNvSpPr txBox="1"/>
          <p:nvPr/>
        </p:nvSpPr>
        <p:spPr>
          <a:xfrm>
            <a:off x="176696" y="226391"/>
            <a:ext cx="6096000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i="0" u="none" strike="noStrike" baseline="0">
                <a:solidFill>
                  <a:srgbClr val="000000"/>
                </a:solidFill>
                <a:latin typeface="Arial"/>
              </a:rPr>
              <a:t>Certificates Earned:</a:t>
            </a:r>
            <a:r>
              <a:rPr sz="24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​</a:t>
            </a:r>
            <a:endParaRPr lang="en-US"/>
          </a:p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D36B1A-26C2-CD55-1032-4CB5E4EDF305}"/>
              </a:ext>
            </a:extLst>
          </p:cNvPr>
          <p:cNvSpPr txBox="1"/>
          <p:nvPr/>
        </p:nvSpPr>
        <p:spPr>
          <a:xfrm>
            <a:off x="496843" y="800470"/>
            <a:ext cx="5437681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/>
              <a:t>Add your IBM BOB Certificate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CBBD7D1-EA6F-656C-4F33-15C0C198C2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9418" y="1200727"/>
            <a:ext cx="8478982" cy="5295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51777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Google Shape;310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190302"/>
            <a:ext cx="12192000" cy="247739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401373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1413</Words>
  <Application>Microsoft Office PowerPoint</Application>
  <PresentationFormat>Widescreen</PresentationFormat>
  <Paragraphs>123</Paragraphs>
  <Slides>20</Slides>
  <Notes>16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Office Theme</vt:lpstr>
      <vt:lpstr>IBM University Engagement Project Submission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Manda Anirudh</dc:creator>
  <cp:lastModifiedBy>Aswini Kumar Motapothula</cp:lastModifiedBy>
  <cp:revision>135</cp:revision>
  <dcterms:created xsi:type="dcterms:W3CDTF">2025-07-08T05:06:56Z</dcterms:created>
  <dcterms:modified xsi:type="dcterms:W3CDTF">2026-09-08T13:52:22Z</dcterms:modified>
</cp:coreProperties>
</file>